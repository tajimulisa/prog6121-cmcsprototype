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8F81-6599-EF61-FE03-E1D54A3A0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BD393-1773-B1ED-C296-58035C34E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68305-AFEF-ECDC-9605-5893CC144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9D50-DFD0-BAE1-D1BA-BB2EAAB5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DB8A7-9FEC-F38B-96D8-ACC61B9AE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71173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CEC5-99D7-32D2-80B4-CF154ACB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EC90-F1B4-B465-AAD2-15FFAB4CC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A3336-0600-AD2C-4231-0374F01E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CF969-11C2-824E-5BB2-886C21A5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60AA2-B850-4B3D-408B-097E2AB7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68960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C341-831D-52AE-DEAE-E8711071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CA0D4-48C7-D102-E76D-7054EA945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58752-6363-A240-517D-E9372460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383D7-F712-5A2C-303E-CE75508D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4B69F-9D04-4407-4418-07D2D712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8850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AF63-6723-BCEB-5DCA-E44486E34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D851C-3B5F-986D-09EE-F0C888DAF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3CA81-3F2A-A8C3-71F3-E7380853D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FD77B-6F4D-99FB-F6B5-5AF2394B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01D4D-E79D-B973-E559-37B70B49D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DC498-6911-76FF-9BA1-A1C4ACD39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732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8ACB-1FB5-CE69-5E0F-D0A097B1C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31980-4EC2-0917-38ED-4B56A4C37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D919A-89C9-B150-6173-63957F8E4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EC8CE-0F52-8AF6-E613-97A8F2183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C448FC-CF42-1132-69D4-DB41A90C3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B19CF-75E9-73EA-DF46-83FA8ABF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DD496-DCAA-49D7-CC6A-379A1C41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43242-7D77-9967-0097-04E4A1FE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7323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54C4-052D-EE13-7383-7E410363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36284-0BC9-34C0-6D9B-2E70563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0C78C-0179-3E21-0FCC-B8DB849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04BE4-6784-7A20-C5C9-9755D8DA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936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C2EF55-E783-D86B-DD5A-FAAD590F5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C0F38-4BEA-1129-394E-2DDB946DD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78D34-BFA5-897F-3DF5-A4A50BC3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876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1FD1-B5EA-6BFF-1AE0-B3E93CD20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A28A4-6015-15FF-BF5A-FB971D069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97677-72C1-CB64-7530-C78643C68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D0EBF-8E04-DB08-DA04-003154A7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DDF30-5BF0-D822-4C9E-AA5F246B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F8CE6-91D6-5910-FF1C-8476ABEC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5954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3985-12C5-2CCD-F95A-D602922B9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488A0-A50D-D680-9031-A36D2D1BA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75704-040E-9839-CAEA-92C82577D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2EF5C-E4F4-281D-D6B6-147801B88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1B94A-8752-F3C0-8F66-55EBCFC1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8A037-7399-F775-37F9-9BBC9DCD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2221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5197-3828-FEAC-C70F-B2C76FCE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A2B88-8AB9-58C7-ED98-B3C719973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D8A74-1036-C979-9CBC-E0EEEA6C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ACFF3-119A-2E7E-7AD6-CF046689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B43BF-F884-5BA3-E52A-25D6CD0C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27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71C25-02AF-38EB-652C-18D83F085F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B29A5-A10D-7B10-6378-02DF6E832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6C7E2-CF44-3C2F-60EE-F2A48066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F4079-4189-422D-673B-CA85F9EE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F947F-BA38-1D75-8B9B-AAAD3E8B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095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9A5F9-F137-81C6-50A1-9436C6C6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A9854-D794-C9F0-6E74-21ECD8875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FBEBE-8B49-CAB7-83A2-FAA629D60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F0797-938B-48F9-8F67-07FC2117FC01}" type="datetimeFigureOut">
              <a:rPr lang="en-ZA" smtClean="0"/>
              <a:t>2025/11/20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FCCA5-FE2F-70FD-62C4-31A192157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013BC-8363-C6C6-8952-70F0E5D5E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22337-8F4F-4E89-ADEA-84A80F3957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854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5876C904-239D-EC4F-6A8E-05F228A8F019}"/>
              </a:ext>
            </a:extLst>
          </p:cNvPr>
          <p:cNvSpPr/>
          <p:nvPr/>
        </p:nvSpPr>
        <p:spPr>
          <a:xfrm rot="5400000">
            <a:off x="-484238" y="1123330"/>
            <a:ext cx="6857999" cy="4611328"/>
          </a:xfrm>
          <a:custGeom>
            <a:avLst/>
            <a:gdLst>
              <a:gd name="connsiteX0" fmla="*/ 314645 w 6857999"/>
              <a:gd name="connsiteY0" fmla="*/ 540775 h 4611328"/>
              <a:gd name="connsiteX1" fmla="*/ 1071725 w 6857999"/>
              <a:gd name="connsiteY1" fmla="*/ 0 h 4611328"/>
              <a:gd name="connsiteX2" fmla="*/ 1828805 w 6857999"/>
              <a:gd name="connsiteY2" fmla="*/ 540775 h 4611328"/>
              <a:gd name="connsiteX3" fmla="*/ 0 w 6857999"/>
              <a:gd name="connsiteY3" fmla="*/ 4611328 h 4611328"/>
              <a:gd name="connsiteX4" fmla="*/ 0 w 6857999"/>
              <a:gd name="connsiteY4" fmla="*/ 540775 h 4611328"/>
              <a:gd name="connsiteX5" fmla="*/ 314645 w 6857999"/>
              <a:gd name="connsiteY5" fmla="*/ 540775 h 4611328"/>
              <a:gd name="connsiteX6" fmla="*/ 314644 w 6857999"/>
              <a:gd name="connsiteY6" fmla="*/ 540775 h 4611328"/>
              <a:gd name="connsiteX7" fmla="*/ 1828806 w 6857999"/>
              <a:gd name="connsiteY7" fmla="*/ 540775 h 4611328"/>
              <a:gd name="connsiteX8" fmla="*/ 1828805 w 6857999"/>
              <a:gd name="connsiteY8" fmla="*/ 540775 h 4611328"/>
              <a:gd name="connsiteX9" fmla="*/ 6857999 w 6857999"/>
              <a:gd name="connsiteY9" fmla="*/ 540775 h 4611328"/>
              <a:gd name="connsiteX10" fmla="*/ 6857999 w 6857999"/>
              <a:gd name="connsiteY10" fmla="*/ 4611328 h 461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7999" h="4611328">
                <a:moveTo>
                  <a:pt x="314645" y="540775"/>
                </a:moveTo>
                <a:lnTo>
                  <a:pt x="1071725" y="0"/>
                </a:lnTo>
                <a:lnTo>
                  <a:pt x="1828805" y="540775"/>
                </a:lnTo>
                <a:close/>
                <a:moveTo>
                  <a:pt x="0" y="4611328"/>
                </a:moveTo>
                <a:lnTo>
                  <a:pt x="0" y="540775"/>
                </a:lnTo>
                <a:lnTo>
                  <a:pt x="314645" y="540775"/>
                </a:lnTo>
                <a:lnTo>
                  <a:pt x="314644" y="540775"/>
                </a:lnTo>
                <a:lnTo>
                  <a:pt x="1828806" y="540775"/>
                </a:lnTo>
                <a:lnTo>
                  <a:pt x="1828805" y="540775"/>
                </a:lnTo>
                <a:lnTo>
                  <a:pt x="6857999" y="540775"/>
                </a:lnTo>
                <a:lnTo>
                  <a:pt x="6857999" y="461132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 dirty="0"/>
          </a:p>
        </p:txBody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6E5F6E80-4BD2-D98C-C4AF-0BC81444CD7D}"/>
              </a:ext>
            </a:extLst>
          </p:cNvPr>
          <p:cNvSpPr/>
          <p:nvPr/>
        </p:nvSpPr>
        <p:spPr>
          <a:xfrm rot="5400000">
            <a:off x="-769372" y="1123330"/>
            <a:ext cx="6857999" cy="4611328"/>
          </a:xfrm>
          <a:custGeom>
            <a:avLst/>
            <a:gdLst>
              <a:gd name="connsiteX0" fmla="*/ 314645 w 6857999"/>
              <a:gd name="connsiteY0" fmla="*/ 540775 h 4611328"/>
              <a:gd name="connsiteX1" fmla="*/ 1071725 w 6857999"/>
              <a:gd name="connsiteY1" fmla="*/ 0 h 4611328"/>
              <a:gd name="connsiteX2" fmla="*/ 1828805 w 6857999"/>
              <a:gd name="connsiteY2" fmla="*/ 540775 h 4611328"/>
              <a:gd name="connsiteX3" fmla="*/ 0 w 6857999"/>
              <a:gd name="connsiteY3" fmla="*/ 4611328 h 4611328"/>
              <a:gd name="connsiteX4" fmla="*/ 0 w 6857999"/>
              <a:gd name="connsiteY4" fmla="*/ 540775 h 4611328"/>
              <a:gd name="connsiteX5" fmla="*/ 314645 w 6857999"/>
              <a:gd name="connsiteY5" fmla="*/ 540775 h 4611328"/>
              <a:gd name="connsiteX6" fmla="*/ 314644 w 6857999"/>
              <a:gd name="connsiteY6" fmla="*/ 540775 h 4611328"/>
              <a:gd name="connsiteX7" fmla="*/ 1828806 w 6857999"/>
              <a:gd name="connsiteY7" fmla="*/ 540775 h 4611328"/>
              <a:gd name="connsiteX8" fmla="*/ 1828805 w 6857999"/>
              <a:gd name="connsiteY8" fmla="*/ 540775 h 4611328"/>
              <a:gd name="connsiteX9" fmla="*/ 6857999 w 6857999"/>
              <a:gd name="connsiteY9" fmla="*/ 540775 h 4611328"/>
              <a:gd name="connsiteX10" fmla="*/ 6857999 w 6857999"/>
              <a:gd name="connsiteY10" fmla="*/ 4611328 h 461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7999" h="4611328">
                <a:moveTo>
                  <a:pt x="314645" y="540775"/>
                </a:moveTo>
                <a:lnTo>
                  <a:pt x="1071725" y="0"/>
                </a:lnTo>
                <a:lnTo>
                  <a:pt x="1828805" y="540775"/>
                </a:lnTo>
                <a:close/>
                <a:moveTo>
                  <a:pt x="0" y="4611328"/>
                </a:moveTo>
                <a:lnTo>
                  <a:pt x="0" y="540775"/>
                </a:lnTo>
                <a:lnTo>
                  <a:pt x="314645" y="540775"/>
                </a:lnTo>
                <a:lnTo>
                  <a:pt x="314644" y="540775"/>
                </a:lnTo>
                <a:lnTo>
                  <a:pt x="1828806" y="540775"/>
                </a:lnTo>
                <a:lnTo>
                  <a:pt x="1828805" y="540775"/>
                </a:lnTo>
                <a:lnTo>
                  <a:pt x="6857999" y="540775"/>
                </a:lnTo>
                <a:lnTo>
                  <a:pt x="6857999" y="461132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/>
          </a:p>
        </p:txBody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DCCFCE92-9D7D-C2AE-370C-D512E3141DED}"/>
              </a:ext>
            </a:extLst>
          </p:cNvPr>
          <p:cNvSpPr/>
          <p:nvPr/>
        </p:nvSpPr>
        <p:spPr>
          <a:xfrm rot="5400000">
            <a:off x="-1123336" y="1123330"/>
            <a:ext cx="6857999" cy="4611328"/>
          </a:xfrm>
          <a:custGeom>
            <a:avLst/>
            <a:gdLst>
              <a:gd name="connsiteX0" fmla="*/ 314645 w 6857999"/>
              <a:gd name="connsiteY0" fmla="*/ 540775 h 4611328"/>
              <a:gd name="connsiteX1" fmla="*/ 1071725 w 6857999"/>
              <a:gd name="connsiteY1" fmla="*/ 0 h 4611328"/>
              <a:gd name="connsiteX2" fmla="*/ 1828805 w 6857999"/>
              <a:gd name="connsiteY2" fmla="*/ 540775 h 4611328"/>
              <a:gd name="connsiteX3" fmla="*/ 0 w 6857999"/>
              <a:gd name="connsiteY3" fmla="*/ 4611328 h 4611328"/>
              <a:gd name="connsiteX4" fmla="*/ 0 w 6857999"/>
              <a:gd name="connsiteY4" fmla="*/ 540775 h 4611328"/>
              <a:gd name="connsiteX5" fmla="*/ 314645 w 6857999"/>
              <a:gd name="connsiteY5" fmla="*/ 540775 h 4611328"/>
              <a:gd name="connsiteX6" fmla="*/ 314644 w 6857999"/>
              <a:gd name="connsiteY6" fmla="*/ 540775 h 4611328"/>
              <a:gd name="connsiteX7" fmla="*/ 1828806 w 6857999"/>
              <a:gd name="connsiteY7" fmla="*/ 540775 h 4611328"/>
              <a:gd name="connsiteX8" fmla="*/ 1828805 w 6857999"/>
              <a:gd name="connsiteY8" fmla="*/ 540775 h 4611328"/>
              <a:gd name="connsiteX9" fmla="*/ 6857999 w 6857999"/>
              <a:gd name="connsiteY9" fmla="*/ 540775 h 4611328"/>
              <a:gd name="connsiteX10" fmla="*/ 6857999 w 6857999"/>
              <a:gd name="connsiteY10" fmla="*/ 4611328 h 461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7999" h="4611328">
                <a:moveTo>
                  <a:pt x="314645" y="540775"/>
                </a:moveTo>
                <a:lnTo>
                  <a:pt x="1071725" y="0"/>
                </a:lnTo>
                <a:lnTo>
                  <a:pt x="1828805" y="540775"/>
                </a:lnTo>
                <a:close/>
                <a:moveTo>
                  <a:pt x="0" y="4611328"/>
                </a:moveTo>
                <a:lnTo>
                  <a:pt x="0" y="540775"/>
                </a:lnTo>
                <a:lnTo>
                  <a:pt x="314645" y="540775"/>
                </a:lnTo>
                <a:lnTo>
                  <a:pt x="314644" y="540775"/>
                </a:lnTo>
                <a:lnTo>
                  <a:pt x="1828806" y="540775"/>
                </a:lnTo>
                <a:lnTo>
                  <a:pt x="1828805" y="540775"/>
                </a:lnTo>
                <a:lnTo>
                  <a:pt x="6857999" y="540775"/>
                </a:lnTo>
                <a:lnTo>
                  <a:pt x="6857999" y="4611328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558FB-E6D5-B8C4-3DC0-7F0128132F62}"/>
              </a:ext>
            </a:extLst>
          </p:cNvPr>
          <p:cNvSpPr txBox="1"/>
          <p:nvPr/>
        </p:nvSpPr>
        <p:spPr>
          <a:xfrm>
            <a:off x="5604387" y="1632154"/>
            <a:ext cx="631231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ZA" dirty="0"/>
          </a:p>
          <a:p>
            <a:r>
              <a:rPr lang="en-ZA" sz="8000" dirty="0">
                <a:solidFill>
                  <a:schemeClr val="accent2">
                    <a:lumMod val="75000"/>
                  </a:schemeClr>
                </a:solidFill>
              </a:rPr>
              <a:t>CMCS</a:t>
            </a:r>
          </a:p>
          <a:p>
            <a:r>
              <a:rPr lang="en-ZA" sz="8000" dirty="0">
                <a:solidFill>
                  <a:schemeClr val="accent2">
                    <a:lumMod val="75000"/>
                  </a:schemeClr>
                </a:solidFill>
              </a:rPr>
              <a:t>PROTOTYPE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4BA963-AB16-A2C2-008C-7328B470048E}"/>
              </a:ext>
            </a:extLst>
          </p:cNvPr>
          <p:cNvSpPr txBox="1"/>
          <p:nvPr/>
        </p:nvSpPr>
        <p:spPr>
          <a:xfrm>
            <a:off x="7561006" y="5034116"/>
            <a:ext cx="435569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>
                <a:solidFill>
                  <a:schemeClr val="accent2">
                    <a:lumMod val="50000"/>
                  </a:schemeClr>
                </a:solidFill>
              </a:rPr>
              <a:t>PROG6212 POE PART THREE</a:t>
            </a:r>
          </a:p>
          <a:p>
            <a:endParaRPr lang="en-ZA" sz="28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ZA" sz="2800" dirty="0">
                <a:solidFill>
                  <a:schemeClr val="accent2">
                    <a:lumMod val="50000"/>
                  </a:schemeClr>
                </a:solidFill>
              </a:rPr>
              <a:t>                             ST10460420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22135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CBDF2CC-9998-7E53-8804-55DE64304232}"/>
              </a:ext>
            </a:extLst>
          </p:cNvPr>
          <p:cNvSpPr/>
          <p:nvPr/>
        </p:nvSpPr>
        <p:spPr>
          <a:xfrm>
            <a:off x="10294374" y="0"/>
            <a:ext cx="189762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E5E3F-81C9-753E-F3D6-270F58BFE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86580" y="314618"/>
            <a:ext cx="9596284" cy="1145473"/>
          </a:xfrm>
        </p:spPr>
        <p:txBody>
          <a:bodyPr/>
          <a:lstStyle/>
          <a:p>
            <a:r>
              <a:rPr lang="en-ZA" dirty="0">
                <a:solidFill>
                  <a:schemeClr val="accent2">
                    <a:lumMod val="75000"/>
                  </a:schemeClr>
                </a:solidFill>
              </a:rPr>
              <a:t>              </a:t>
            </a:r>
            <a:r>
              <a:rPr lang="en-ZA" b="1" u="sng" dirty="0">
                <a:solidFill>
                  <a:schemeClr val="accent2">
                    <a:lumMod val="75000"/>
                  </a:schemeClr>
                </a:solidFill>
              </a:rPr>
              <a:t>Lecturers’ Document Upload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9E46B6-F329-FC32-3453-FA55CD6D2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82" y="1690688"/>
            <a:ext cx="7735712" cy="435133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9BE088-9BC4-B686-D1CD-282F6A213FD8}"/>
              </a:ext>
            </a:extLst>
          </p:cNvPr>
          <p:cNvSpPr txBox="1"/>
          <p:nvPr/>
        </p:nvSpPr>
        <p:spPr>
          <a:xfrm>
            <a:off x="8085894" y="1071716"/>
            <a:ext cx="3162209" cy="1860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1600" b="1" dirty="0">
                <a:latin typeface="Arial" panose="020B0604020202020204" pitchFamily="34" charset="0"/>
              </a:rPr>
              <a:t>This interface enables instructors to upload supporting papers, timesheets, and proof of work that are relevant to their monthly claims. 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Z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22F27-0180-AEA3-4A7F-90462CA53C6E}"/>
              </a:ext>
            </a:extLst>
          </p:cNvPr>
          <p:cNvSpPr txBox="1"/>
          <p:nvPr/>
        </p:nvSpPr>
        <p:spPr>
          <a:xfrm>
            <a:off x="8652385" y="2635046"/>
            <a:ext cx="339213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1600" b="1" dirty="0">
                <a:latin typeface="Arial" panose="020B0604020202020204" pitchFamily="34" charset="0"/>
              </a:rPr>
              <a:t>Important Features:</a:t>
            </a:r>
            <a:br>
              <a:rPr lang="en-US" altLang="en-US" sz="1600" b="1" dirty="0">
                <a:latin typeface="Arial" panose="020B0604020202020204" pitchFamily="34" charset="0"/>
              </a:rPr>
            </a:br>
            <a:r>
              <a:rPr lang="en-US" altLang="en-US" sz="1600" b="1" dirty="0">
                <a:latin typeface="Arial" panose="020B0604020202020204" pitchFamily="34" charset="0"/>
              </a:rPr>
              <a:t>Drag-and-drop or browse functionality that is easy to use. Verify the document type to make sure the right files are uploaded. </a:t>
            </a:r>
            <a:br>
              <a:rPr lang="en-US" altLang="en-US" sz="1600" b="1" dirty="0">
                <a:latin typeface="Arial" panose="020B0604020202020204" pitchFamily="34" charset="0"/>
              </a:rPr>
            </a:br>
            <a:r>
              <a:rPr lang="en-US" altLang="en-US" sz="1600" b="1" dirty="0">
                <a:latin typeface="Arial" panose="020B0604020202020204" pitchFamily="34" charset="0"/>
              </a:rPr>
              <a:t>status updates and confirmation that the upload was successful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Z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D6B2B-2EDA-B4BF-0B16-DA75F4F60746}"/>
              </a:ext>
            </a:extLst>
          </p:cNvPr>
          <p:cNvSpPr txBox="1"/>
          <p:nvPr/>
        </p:nvSpPr>
        <p:spPr>
          <a:xfrm>
            <a:off x="8180439" y="4984955"/>
            <a:ext cx="32643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1600" b="1" dirty="0">
                <a:latin typeface="Arial" panose="020B0604020202020204" pitchFamily="34" charset="0"/>
              </a:rPr>
              <a:t>Value: Lowers errors and administrative burden while facilitating a smooth and effective submission procedure.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97486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1CBA-13EF-B627-85D2-1326DA47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4284" y="365125"/>
            <a:ext cx="6941574" cy="1325563"/>
          </a:xfrm>
        </p:spPr>
        <p:txBody>
          <a:bodyPr/>
          <a:lstStyle/>
          <a:p>
            <a:r>
              <a:rPr lang="en-ZA" b="1" u="sng" dirty="0">
                <a:solidFill>
                  <a:schemeClr val="accent2">
                    <a:lumMod val="75000"/>
                  </a:schemeClr>
                </a:solidFill>
              </a:rPr>
              <a:t>Lecturers Claim Submission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23C6E6-B92B-4416-5035-74C13E099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670" y="1825625"/>
            <a:ext cx="7502013" cy="4506349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E0D0086-D667-5974-19A3-2DCAA31F4C8A}"/>
              </a:ext>
            </a:extLst>
          </p:cNvPr>
          <p:cNvSpPr/>
          <p:nvPr/>
        </p:nvSpPr>
        <p:spPr>
          <a:xfrm>
            <a:off x="0" y="0"/>
            <a:ext cx="215326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A0402-DDE5-3291-6D8B-A997A74CDA22}"/>
              </a:ext>
            </a:extLst>
          </p:cNvPr>
          <p:cNvSpPr txBox="1"/>
          <p:nvPr/>
        </p:nvSpPr>
        <p:spPr>
          <a:xfrm>
            <a:off x="668594" y="1199535"/>
            <a:ext cx="29201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This screen enables lecturers to submit their monthly payment claims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4BD32-F72A-5906-8821-0EFE4BFB9A22}"/>
              </a:ext>
            </a:extLst>
          </p:cNvPr>
          <p:cNvSpPr txBox="1"/>
          <p:nvPr/>
        </p:nvSpPr>
        <p:spPr>
          <a:xfrm>
            <a:off x="157318" y="2426151"/>
            <a:ext cx="32348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Claims can be reviewed and edited prior to final submission. Validation is in real time to prevent mistakes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AB5D9B-4F20-9D2B-0627-AC027EB76BAD}"/>
              </a:ext>
            </a:extLst>
          </p:cNvPr>
          <p:cNvSpPr txBox="1"/>
          <p:nvPr/>
        </p:nvSpPr>
        <p:spPr>
          <a:xfrm>
            <a:off x="796413" y="4059281"/>
            <a:ext cx="2792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Value: Ensures accuracy, completeness and timely filing by improving the claims process</a:t>
            </a:r>
          </a:p>
        </p:txBody>
      </p:sp>
    </p:spTree>
    <p:extLst>
      <p:ext uri="{BB962C8B-B14F-4D97-AF65-F5344CB8AC3E}">
        <p14:creationId xmlns:p14="http://schemas.microsoft.com/office/powerpoint/2010/main" val="4049007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CC4F1-9705-BEF6-6CEE-82255258C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5276" y="365125"/>
            <a:ext cx="5633885" cy="1325563"/>
          </a:xfrm>
        </p:spPr>
        <p:txBody>
          <a:bodyPr/>
          <a:lstStyle/>
          <a:p>
            <a:r>
              <a:rPr lang="en-ZA" b="1" u="sng" dirty="0">
                <a:solidFill>
                  <a:schemeClr val="accent2">
                    <a:lumMod val="75000"/>
                  </a:schemeClr>
                </a:solidFill>
              </a:rPr>
              <a:t>Managers 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245147-534D-AA04-A1F4-A2815697C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6" y="1825625"/>
            <a:ext cx="7836309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42FBAB-6765-16F3-D17A-6CB4AE42051F}"/>
              </a:ext>
            </a:extLst>
          </p:cNvPr>
          <p:cNvSpPr/>
          <p:nvPr/>
        </p:nvSpPr>
        <p:spPr>
          <a:xfrm>
            <a:off x="10284542" y="0"/>
            <a:ext cx="19074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8A27C4-2667-2EAD-F349-1002F497CBE6}"/>
              </a:ext>
            </a:extLst>
          </p:cNvPr>
          <p:cNvSpPr txBox="1"/>
          <p:nvPr/>
        </p:nvSpPr>
        <p:spPr>
          <a:xfrm>
            <a:off x="8514736" y="1484671"/>
            <a:ext cx="3087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Provides coordinators and supervisors a dashboard to examine and manage submitted claims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078BA-E237-2315-1A1E-F4A2329BB2F6}"/>
              </a:ext>
            </a:extLst>
          </p:cNvPr>
          <p:cNvSpPr txBox="1"/>
          <p:nvPr/>
        </p:nvSpPr>
        <p:spPr>
          <a:xfrm>
            <a:off x="9193161" y="2685001"/>
            <a:ext cx="30873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There are a summary of claims that have been accepted and pending. Moreover, there is thorough examination of claims with document access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F4DC-098C-B2A1-093F-091F42D76E4E}"/>
              </a:ext>
            </a:extLst>
          </p:cNvPr>
          <p:cNvSpPr txBox="1"/>
          <p:nvPr/>
        </p:nvSpPr>
        <p:spPr>
          <a:xfrm>
            <a:off x="8839200" y="4728584"/>
            <a:ext cx="30873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Value: Promotes effective supervision, communication, and processing of claims between lecturers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367187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F1C9515-D790-38CF-3784-75F385AFA8F8}"/>
              </a:ext>
            </a:extLst>
          </p:cNvPr>
          <p:cNvSpPr/>
          <p:nvPr/>
        </p:nvSpPr>
        <p:spPr>
          <a:xfrm>
            <a:off x="0" y="0"/>
            <a:ext cx="210410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D4593-6FF9-D35B-3057-CBE7453FB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9793" y="1"/>
            <a:ext cx="5456903" cy="1425676"/>
          </a:xfrm>
        </p:spPr>
        <p:txBody>
          <a:bodyPr/>
          <a:lstStyle/>
          <a:p>
            <a:r>
              <a:rPr lang="en-ZA" dirty="0">
                <a:solidFill>
                  <a:schemeClr val="accent2">
                    <a:lumMod val="75000"/>
                  </a:schemeClr>
                </a:solidFill>
              </a:rPr>
              <a:t>             </a:t>
            </a:r>
            <a:r>
              <a:rPr lang="en-ZA" b="1" u="sng" dirty="0">
                <a:solidFill>
                  <a:schemeClr val="accent2">
                    <a:lumMod val="75000"/>
                  </a:schemeClr>
                </a:solidFill>
              </a:rPr>
              <a:t>GUI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05A7FB-0F44-0CB0-CFC4-1E4A67FBA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958" y="1618642"/>
            <a:ext cx="5897041" cy="343860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DE24B5-4226-2F9B-F300-EC2BD449E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73128"/>
            <a:ext cx="6157307" cy="32710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1D4FBD-AF22-9BEC-B80B-9C04354B822A}"/>
              </a:ext>
            </a:extLst>
          </p:cNvPr>
          <p:cNvSpPr txBox="1"/>
          <p:nvPr/>
        </p:nvSpPr>
        <p:spPr>
          <a:xfrm>
            <a:off x="1111045" y="3513805"/>
            <a:ext cx="49849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The screenshots show the design decisions for my interface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There is easy navigation and a layout that is simple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I chose a consistent colour scheme and font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Usability across devices is ensured with a flexible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4C21D-5D7F-4CCC-25D8-C4253F29EB36}"/>
              </a:ext>
            </a:extLst>
          </p:cNvPr>
          <p:cNvSpPr txBox="1"/>
          <p:nvPr/>
        </p:nvSpPr>
        <p:spPr>
          <a:xfrm>
            <a:off x="275303" y="5557809"/>
            <a:ext cx="4227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Value: By making the system accessible and easy to use, which improves user experience </a:t>
            </a:r>
          </a:p>
        </p:txBody>
      </p:sp>
    </p:spTree>
    <p:extLst>
      <p:ext uri="{BB962C8B-B14F-4D97-AF65-F5344CB8AC3E}">
        <p14:creationId xmlns:p14="http://schemas.microsoft.com/office/powerpoint/2010/main" val="166644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0CE49F-FB70-6D88-9E97-416DD225ED1C}"/>
              </a:ext>
            </a:extLst>
          </p:cNvPr>
          <p:cNvSpPr/>
          <p:nvPr/>
        </p:nvSpPr>
        <p:spPr>
          <a:xfrm>
            <a:off x="10117394" y="0"/>
            <a:ext cx="207460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18467-C611-C653-A0D0-F88CD233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4" y="68827"/>
            <a:ext cx="5545392" cy="1353675"/>
          </a:xfrm>
        </p:spPr>
        <p:txBody>
          <a:bodyPr/>
          <a:lstStyle/>
          <a:p>
            <a:r>
              <a:rPr lang="en-ZA" b="1" u="sng" dirty="0">
                <a:solidFill>
                  <a:schemeClr val="accent2">
                    <a:lumMod val="75000"/>
                  </a:schemeClr>
                </a:solidFill>
              </a:rPr>
              <a:t>Version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CE0B74-1E1D-BDC6-D411-EAB9B7E76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0206"/>
            <a:ext cx="6106220" cy="367726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58E56E-D666-7686-B23A-674ACBB80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342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75AF88-61CC-72B4-8B7C-781C740357C1}"/>
              </a:ext>
            </a:extLst>
          </p:cNvPr>
          <p:cNvSpPr txBox="1"/>
          <p:nvPr/>
        </p:nvSpPr>
        <p:spPr>
          <a:xfrm>
            <a:off x="6951406" y="4011561"/>
            <a:ext cx="4660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I followed version control guidelines and made ten commits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9B661-D621-F2D6-9183-E45CFEACC5DA}"/>
              </a:ext>
            </a:extLst>
          </p:cNvPr>
          <p:cNvSpPr txBox="1"/>
          <p:nvPr/>
        </p:nvSpPr>
        <p:spPr>
          <a:xfrm>
            <a:off x="7639665" y="4657893"/>
            <a:ext cx="3559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b="1" dirty="0"/>
              <a:t>Each commit was detailed, describing specific changes like improving dashboards and simplifying the GUI.</a:t>
            </a:r>
          </a:p>
        </p:txBody>
      </p:sp>
    </p:spTree>
    <p:extLst>
      <p:ext uri="{BB962C8B-B14F-4D97-AF65-F5344CB8AC3E}">
        <p14:creationId xmlns:p14="http://schemas.microsoft.com/office/powerpoint/2010/main" val="4137075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E17F-C3CC-5697-273A-0B031706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          </a:t>
            </a:r>
            <a:r>
              <a:rPr lang="en-ZA" b="1" u="sng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B41DA-3FBD-DCAA-3577-C96B06646B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349424"/>
            <a:ext cx="1210351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Contract Monthly Claim System gives lecturers an all-inclusive way to upload papers and submit claims quickly.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makes it possible for program coordinators and managers to promptly assess and handle these claims.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organized and transparent claim handling for managers and coordinators, professional and user-friendly GUI design which guarantees usability.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Moreover, strong version control guarantees the maintainability of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program makes the monthly claim process easier, quicker and more accurate while also increasing operational efficiency, accountability and communication with the organization.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system improves claim handling and provides efficient support</a:t>
            </a:r>
          </a:p>
        </p:txBody>
      </p:sp>
    </p:spTree>
    <p:extLst>
      <p:ext uri="{BB962C8B-B14F-4D97-AF65-F5344CB8AC3E}">
        <p14:creationId xmlns:p14="http://schemas.microsoft.com/office/powerpoint/2010/main" val="2824075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380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              Lecturers’ Document Upload</vt:lpstr>
      <vt:lpstr>Lecturers Claim Submission</vt:lpstr>
      <vt:lpstr>Managers View</vt:lpstr>
      <vt:lpstr>             GUI Design</vt:lpstr>
      <vt:lpstr>Version Control</vt:lpstr>
      <vt:lpstr>       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Taji Mulisa</dc:creator>
  <cp:lastModifiedBy>Taji Mulisa</cp:lastModifiedBy>
  <cp:revision>1</cp:revision>
  <dcterms:created xsi:type="dcterms:W3CDTF">2025-11-20T17:05:11Z</dcterms:created>
  <dcterms:modified xsi:type="dcterms:W3CDTF">2025-11-20T21:11:47Z</dcterms:modified>
</cp:coreProperties>
</file>